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e62ba2baa7450a" /><Relationship Type="http://schemas.openxmlformats.org/officeDocument/2006/relationships/extended-properties" Target="/docProps/app.xml" Id="R7d0521cde5114e40" /><Relationship Type="http://schemas.openxmlformats.org/officeDocument/2006/relationships/officeDocument" Target="/ppt/presentation.xml" Id="R0a68fefcf40e45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1061fd45de4cbb"/>
  </p:sldMasterIdLst>
  <p:notesMasterIdLst>
    <p:notesMasterId xmlns:r="http://schemas.openxmlformats.org/officeDocument/2006/relationships" r:id="R5b86d79593eb4ecb"/>
  </p:notesMasterIdLst>
  <p:sldIdLst>
    <p:sldId xmlns:r="http://schemas.openxmlformats.org/officeDocument/2006/relationships" id="256" r:id="R6cd9cd094b2d4b1f"/>
    <p:sldId xmlns:r="http://schemas.openxmlformats.org/officeDocument/2006/relationships" id="257" r:id="R0ba7126f6f724029"/>
    <p:sldId xmlns:r="http://schemas.openxmlformats.org/officeDocument/2006/relationships" id="258" r:id="Ra76126f9e99848c6"/>
    <p:sldId xmlns:r="http://schemas.openxmlformats.org/officeDocument/2006/relationships" id="259" r:id="R28b7088327e648f8"/>
    <p:sldId xmlns:r="http://schemas.openxmlformats.org/officeDocument/2006/relationships" id="260" r:id="R0c796cee96484552"/>
    <p:sldId xmlns:r="http://schemas.openxmlformats.org/officeDocument/2006/relationships" id="261" r:id="Rca8c522a6def42a7"/>
    <p:sldId xmlns:r="http://schemas.openxmlformats.org/officeDocument/2006/relationships" id="262" r:id="R76e1e35472a547fe"/>
    <p:sldId xmlns:r="http://schemas.openxmlformats.org/officeDocument/2006/relationships" id="263" r:id="R0db20612a9db484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0c6d8d25b1459b" /><Relationship Type="http://schemas.openxmlformats.org/officeDocument/2006/relationships/slideMaster" Target="/ppt/slideMasters/slideMaster1.xml" Id="Rcd1061fd45de4cbb" /><Relationship Type="http://schemas.openxmlformats.org/officeDocument/2006/relationships/notesMaster" Target="/ppt/notesMasters/notesMaster1.xml" Id="R5b86d79593eb4ecb" /><Relationship Type="http://schemas.openxmlformats.org/officeDocument/2006/relationships/presProps" Target="/ppt/presProps.xml" Id="R3e8891a397704e81" /><Relationship Type="http://schemas.openxmlformats.org/officeDocument/2006/relationships/tableStyles" Target="/ppt/tableStyles.xml" Id="Reeb63c5da6f14e3f" /><Relationship Type="http://schemas.openxmlformats.org/officeDocument/2006/relationships/slide" Target="/ppt/slides/slide1.xml" Id="R6cd9cd094b2d4b1f" /><Relationship Type="http://schemas.openxmlformats.org/officeDocument/2006/relationships/slide" Target="/ppt/slides/slide2.xml" Id="R0ba7126f6f724029" /><Relationship Type="http://schemas.openxmlformats.org/officeDocument/2006/relationships/slide" Target="/ppt/slides/slide3.xml" Id="Ra76126f9e99848c6" /><Relationship Type="http://schemas.openxmlformats.org/officeDocument/2006/relationships/slide" Target="/ppt/slides/slide4.xml" Id="R28b7088327e648f8" /><Relationship Type="http://schemas.openxmlformats.org/officeDocument/2006/relationships/slide" Target="/ppt/slides/slide5.xml" Id="R0c796cee96484552" /><Relationship Type="http://schemas.openxmlformats.org/officeDocument/2006/relationships/slide" Target="/ppt/slides/slide6.xml" Id="Rca8c522a6def42a7" /><Relationship Type="http://schemas.openxmlformats.org/officeDocument/2006/relationships/slide" Target="/ppt/slides/slide7.xml" Id="R76e1e35472a547fe" /><Relationship Type="http://schemas.openxmlformats.org/officeDocument/2006/relationships/slide" Target="/ppt/slides/slide8.xml" Id="R0db20612a9db48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c8a9585617d49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59627597ac44af" /><Relationship Type="http://schemas.openxmlformats.org/officeDocument/2006/relationships/notesMaster" Target="/ppt/notesMasters/notesMaster1.xml" Id="Re9cd9eeaf90542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9b79a14d37548c3" /><Relationship Type="http://schemas.openxmlformats.org/officeDocument/2006/relationships/notesMaster" Target="/ppt/notesMasters/notesMaster1.xml" Id="R02c605b67eaf4c3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f1ecb3575084d6b" /><Relationship Type="http://schemas.openxmlformats.org/officeDocument/2006/relationships/notesMaster" Target="/ppt/notesMasters/notesMaster1.xml" Id="Rcd95783ecdca4ab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85bd040d404533" /><Relationship Type="http://schemas.openxmlformats.org/officeDocument/2006/relationships/notesMaster" Target="/ppt/notesMasters/notesMaster1.xml" Id="Re468c8e5f343453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e59ba89fad84ff2" /><Relationship Type="http://schemas.openxmlformats.org/officeDocument/2006/relationships/notesMaster" Target="/ppt/notesMasters/notesMaster1.xml" Id="Ree515f649bc0493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a7098d9b34e44c9" /><Relationship Type="http://schemas.openxmlformats.org/officeDocument/2006/relationships/notesMaster" Target="/ppt/notesMasters/notesMaster1.xml" Id="R0b54e64d68e24ea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3414523c3b844c1" /><Relationship Type="http://schemas.openxmlformats.org/officeDocument/2006/relationships/notesMaster" Target="/ppt/notesMasters/notesMaster1.xml" Id="R804bfd90120f4df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bbf24a3392e4eb9" /><Relationship Type="http://schemas.openxmlformats.org/officeDocument/2006/relationships/notesMaster" Target="/ppt/notesMasters/notesMaster1.xml" Id="Rc730ed3c90dc4e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开场先讲结论：这不是单点执行问题，而是内容系统建设问题。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这一页把内容、分发、社区连成一条决策链。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Reddit path to purchase: https://www.business.reddit.com/blog/path-to-purchase-2025</a:t>
            </a:r>
          </a:p>
          <a:p xmlns:a="http://schemas.openxmlformats.org/drawingml/2006/main">
            <a:r>
              <a:t>Discord Community Onboarding FAQ: https://support.discord.com/hc/en-us/articles/11074987197975-Community-Onboarding-FAQ</a:t>
            </a:r>
          </a:p>
          <a:p xmlns:a="http://schemas.openxmlformats.org/drawingml/2006/main">
            <a:r>
              <a:t>TikTok Creative Best Practices: https://ads.tiktok.com/help/article/creative-best-practices?lang=en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内部事实来自原工作汇报：AI模型、修复、打印、后处理叠加，导致可拍摄模型周期通常为3-5天。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这一页按影响优先级呈现，不展开细节，细节留给Word报告。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进度来自原工作汇报，节点为原文给出的本周、下周、月底等相对节点。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方案保留原稿的招聘与流程优化，并补充素材池、并行生产和一主多拆。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建议节奏不是硬承诺，仍受打印成功率、审核反馈和人员到位情况影响。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收束到需要支持的决策，便于汇报对象直接响应。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f33b19e1df493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6a39691b9b4fae" /><Relationship Type="http://schemas.openxmlformats.org/officeDocument/2006/relationships/slideLayout" Target="/ppt/slideLayouts/slideLayout1.xml" Id="R72b0b1f02afe4b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b0b1f02afe4b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aecf0c642b4f9c" /><Relationship Type="http://schemas.openxmlformats.org/officeDocument/2006/relationships/notesSlide" Target="/ppt/notesSlides/notesSlide1.xml" Id="R187d94bc8b2946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113e9204734305" /><Relationship Type="http://schemas.openxmlformats.org/officeDocument/2006/relationships/notesSlide" Target="/ppt/notesSlides/notesSlide2.xml" Id="Rae3855d2b4344a4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c53a5c53354180" /><Relationship Type="http://schemas.openxmlformats.org/officeDocument/2006/relationships/notesSlide" Target="/ppt/notesSlides/notesSlide3.xml" Id="R81fa06f101eb401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b2e50b6947494c" /><Relationship Type="http://schemas.openxmlformats.org/officeDocument/2006/relationships/notesSlide" Target="/ppt/notesSlides/notesSlide4.xml" Id="Rb77eeb4282fc456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4e32777f8d4543" /><Relationship Type="http://schemas.openxmlformats.org/officeDocument/2006/relationships/notesSlide" Target="/ppt/notesSlides/notesSlide5.xml" Id="Ra63f3522c06d48b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6d5de556b846c5" /><Relationship Type="http://schemas.openxmlformats.org/officeDocument/2006/relationships/notesSlide" Target="/ppt/notesSlides/notesSlide6.xml" Id="Rc453112192b64ec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8b9fd621ee461c" /><Relationship Type="http://schemas.openxmlformats.org/officeDocument/2006/relationships/notesSlide" Target="/ppt/notesSlides/notesSlide7.xml" Id="R555356f4c780467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f98013ae7b4263" /><Relationship Type="http://schemas.openxmlformats.org/officeDocument/2006/relationships/notesSlide" Target="/ppt/notesSlides/notesSlide8.xml" Id="R4bea2fe52dc7475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059A97-040D-4B81-98DD-B5919902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F7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539EA9-B355-47B0-8361-1ACA20A5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525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7B6D63-D7C9-41B8-99CB-081F14A9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62000"/>
            <a:ext cx="7429500" cy="723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033"/>
                </a:solidFill>
              </a:defRPr>
            </a:pPr>
            <a:r>
              <a:rPr sz="3150" b="1">
                <a:solidFill>
                  <a:srgbClr val="102033"/>
                </a:solidFill>
              </a:rPr>
              <a:t>7-8月内容相关工作情况汇报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EA7100-9636-45C2-99D6-30B75500E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6B7A"/>
                </a:solidFill>
              </a:defRPr>
            </a:pPr>
            <a:r>
              <a:rPr sz="1650" b="0">
                <a:solidFill>
                  <a:srgbClr val="5C6B7A"/>
                </a:solidFill>
              </a:rPr>
              <a:t>内容生产、内容分发与社区/品牌声量阶段复盘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5B8C48-86CE-4654-BAAE-F3C683A47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92392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7EEB69-39D3-4AB9-8E13-A01ABB49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48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核心判断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B242DE-9D76-4D76-930A-E406710A4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76625"/>
            <a:ext cx="8191500" cy="647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033"/>
                </a:solidFill>
              </a:defRPr>
            </a:pPr>
            <a:r>
              <a:rPr sz="2100" b="1">
                <a:solidFill>
                  <a:srgbClr val="102033"/>
                </a:solidFill>
              </a:rPr>
              <a:t>当前瓶颈不是缺少单条创意，而是内容生产链路、平台分发机制和社区运营基础尚未形成稳定闭环。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C8F289-7524-4DA3-8601-73719434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102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B7A"/>
                </a:solidFill>
              </a:defRPr>
            </a:pPr>
            <a:r>
              <a:rPr sz="1125" b="0">
                <a:solidFill>
                  <a:srgbClr val="5C6B7A"/>
                </a:solidFill>
              </a:rPr>
              <a:t>汇报周期：2026年7月-8月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696042-2FB9-4F1C-8E5F-5CF1C24E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B7A"/>
                </a:solidFill>
              </a:defRPr>
            </a:pPr>
            <a:r>
              <a:rPr sz="825" b="0">
                <a:solidFill>
                  <a:srgbClr val="5C6B7A"/>
                </a:solidFill>
              </a:rPr>
              <a:t>7-8月内容相关工作情况汇报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EE39A7-2977-468A-B2C1-8C48D1D73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B7A"/>
                </a:solidFill>
              </a:defRPr>
            </a:pPr>
            <a:r>
              <a:rPr sz="975" b="0">
                <a:solidFill>
                  <a:srgbClr val="5C6B7A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8496803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DEEB93-0DDC-4B0A-BBEA-9FB6E3808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01 / WHY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E0075D-73EB-46AB-B560-6CBE090A8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为什么内容与社区必须一起做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22520C-11F4-41AF-BF27-8D554BC75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B7A"/>
                </a:solidFill>
              </a:defRPr>
            </a:pPr>
            <a:r>
              <a:rPr sz="1275" b="0">
                <a:solidFill>
                  <a:srgbClr val="5C6B7A"/>
                </a:solidFill>
              </a:rPr>
              <a:t>用户决策不只发生在官网，也发生在短视频、教程、搜索和社区对话里。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82C675-9059-4BA8-932E-A3E75448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61A059-A961-4997-9994-14B356F99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24574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D27056-F2A9-4761-9C1C-5A4CB66A6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87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E538F9-7721-43AC-B7C2-3B8ECB3EF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短视频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47DAA6-D7BE-4C56-98DC-90CB30D7F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20383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承担创意曝光与兴趣触发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974641-B035-42E9-827A-CAD151D8E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9095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B7A"/>
                </a:solidFill>
              </a:defRPr>
            </a:pPr>
            <a:r>
              <a:rPr sz="1125" b="0">
                <a:solidFill>
                  <a:srgbClr val="5C6B7A"/>
                </a:solidFill>
              </a:rPr>
              <a:t>首秒结果、过程爽点、功能前后对比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9D0C2D-234C-4FFC-866D-A7B95D24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62200"/>
            <a:ext cx="24574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B77C6F-03C6-4B2D-B461-CF1B9346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71750"/>
            <a:ext cx="87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2A37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A17B1F-95B5-4C26-8BA4-5B26F40EE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61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2A37F"/>
                </a:solidFill>
              </a:defRPr>
            </a:pPr>
            <a:r>
              <a:rPr sz="900" b="1">
                <a:solidFill>
                  <a:srgbClr val="12A37F"/>
                </a:solidFill>
              </a:rPr>
              <a:t>长教程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22917E-4509-45A0-A684-C211BDD67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105150"/>
            <a:ext cx="20383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承担深度教育与搜索承接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CA45AE-0D49-4D46-A98C-A3982B879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79095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B7A"/>
                </a:solidFill>
              </a:defRPr>
            </a:pPr>
            <a:r>
              <a:rPr sz="1125" b="0">
                <a:solidFill>
                  <a:srgbClr val="5C6B7A"/>
                </a:solidFill>
              </a:rPr>
              <a:t>完整工作流、失败排查、版本功能解释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26B1AA-18A1-4D36-AABD-E25AC5B6D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62200"/>
            <a:ext cx="24574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3073C0-DCFC-4062-8541-93B9C082C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87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6D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9D7497-0E6A-4669-828D-95DB33E52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1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A6D6"/>
                </a:solidFill>
              </a:defRPr>
            </a:pPr>
            <a:r>
              <a:rPr sz="900" b="1">
                <a:solidFill>
                  <a:srgbClr val="00A6D6"/>
                </a:solidFill>
              </a:rPr>
              <a:t>Discord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EBB900-477C-439A-9AC0-886F57AD8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05150"/>
            <a:ext cx="20383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承担核心用户留存与UGC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4D3F35-AE55-4FBD-982C-246672A90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9095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B7A"/>
                </a:solidFill>
              </a:defRPr>
            </a:pPr>
            <a:r>
              <a:rPr sz="1125" b="0">
                <a:solidFill>
                  <a:srgbClr val="5C6B7A"/>
                </a:solidFill>
              </a:rPr>
              <a:t>新手路径、活动、作品展示、问题沉淀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4FB095-AB95-409B-A452-BABD4A8D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62200"/>
            <a:ext cx="24574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9361C0-492A-46D8-AC82-C2518ACA5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571750"/>
            <a:ext cx="87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FD1C9C-C336-4151-BBFE-8F857602B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61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59E0B"/>
                </a:solidFill>
              </a:defRPr>
            </a:pPr>
            <a:r>
              <a:rPr sz="900" b="1">
                <a:solidFill>
                  <a:srgbClr val="F59E0B"/>
                </a:solidFill>
              </a:rPr>
              <a:t>Reddit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CF17F1-C23D-4D52-8B1B-FED9BD8A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105150"/>
            <a:ext cx="20383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承担购买前验证与口碑修复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FB5FBD-C7ED-4BC6-B7FD-C24E4D7DD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79095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B7A"/>
                </a:solidFill>
              </a:defRPr>
            </a:pPr>
            <a:r>
              <a:rPr sz="1125" b="0">
                <a:solidFill>
                  <a:srgbClr val="5C6B7A"/>
                </a:solidFill>
              </a:rPr>
              <a:t>真实回答、透明解释、竞品比较中的事实澄清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95D804-D5C6-49E7-8D68-09C360FE7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B7A"/>
                </a:solidFill>
              </a:defRPr>
            </a:pPr>
            <a:r>
              <a:rPr sz="1275" b="0">
                <a:solidFill>
                  <a:srgbClr val="5C6B7A"/>
                </a:solidFill>
              </a:rPr>
              <a:t>外部资料补强：Reddit Business强调社区推荐影响购买决策；Discord官方提供新成员onboarding机制；短视频平台普遍强调前段吸引与持续观看。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28D0BB-9015-49A5-B189-6FB75C480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B7A"/>
                </a:solidFill>
              </a:defRPr>
            </a:pPr>
            <a:r>
              <a:rPr sz="825" b="0">
                <a:solidFill>
                  <a:srgbClr val="5C6B7A"/>
                </a:solidFill>
              </a:rPr>
              <a:t>7-8月内容相关工作情况汇报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421184-419A-43EE-B1B5-85A4AE5A4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B7A"/>
                </a:solidFill>
              </a:defRPr>
            </a:pPr>
            <a:r>
              <a:rPr sz="975" b="0">
                <a:solidFill>
                  <a:srgbClr val="5C6B7A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217717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7D60A9F-8E05-4CDF-9E5B-64221D11A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02 /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5CCE06-A56F-4DC4-88E4-505941D7A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3D打印内容的真实链路很长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3B0E64-DC66-40E4-8189-C2EAD3E18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B7A"/>
                </a:solidFill>
              </a:defRPr>
            </a:pPr>
            <a:r>
              <a:rPr sz="1275" b="0">
                <a:solidFill>
                  <a:srgbClr val="5C6B7A"/>
                </a:solidFill>
              </a:rPr>
              <a:t>一条看似简单的短视频，背后包含多岗位协作和不可压缩的打印周期。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4F7C51-D955-4CBD-B0FD-49E76A491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10D781-D689-4129-8A59-463BDBD73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695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06A94A-2815-4D56-A211-E606BC3C7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289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2630E3-4908-4B8F-80E4-215E5FA4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89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选题规划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693D18-818B-4A6B-AFD0-F39F5C41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528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6B7A"/>
                </a:solidFill>
              </a:defRPr>
            </a:pPr>
            <a:r>
              <a:rPr sz="975" b="0">
                <a:solidFill>
                  <a:srgbClr val="5C6B7A"/>
                </a:solidFill>
              </a:rPr>
              <a:t>创意方向 / 用户问题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FA9323-E088-4239-9A27-990E08B4F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48000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9B2F39-DCD8-45CB-A117-1343104D4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476500"/>
            <a:ext cx="1695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558738-66B4-4A6C-AC53-B46A885CF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289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36FC0A-A6B6-4F50-BDE7-3548103F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289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脚本分镜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EDC6DF-EBCC-4BC9-8D3A-997AA33D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528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6B7A"/>
                </a:solidFill>
              </a:defRPr>
            </a:pPr>
            <a:r>
              <a:rPr sz="975" b="0">
                <a:solidFill>
                  <a:srgbClr val="5C6B7A"/>
                </a:solidFill>
              </a:rPr>
              <a:t>英文表达 / 平台hook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49E01A-DC90-4B48-AC28-E975C7D66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48000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C19B9D-5D07-4393-9C32-1A4CCFE55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476500"/>
            <a:ext cx="1695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87A40F-BECD-47D0-907C-A78DBEA5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289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C8C2CA-863E-414F-B24D-1E9295659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289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模型准备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926692-4A2E-474C-BC6E-D72AE263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528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6B7A"/>
                </a:solidFill>
              </a:defRPr>
            </a:pPr>
            <a:r>
              <a:rPr sz="975" b="0">
                <a:solidFill>
                  <a:srgbClr val="5C6B7A"/>
                </a:solidFill>
              </a:rPr>
              <a:t>生成 / 修复 / 可打印性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E453AC-100B-4B62-B867-A9CC63447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48000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28B561-F639-4730-9016-102D9A4A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76500"/>
            <a:ext cx="1695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E513E4-AE86-4EBA-A493-82153539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289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127BEE-CF25-4E79-8514-51DC7385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打印后处理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BA1C48-F3F0-431A-86B2-A04A9C56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528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6B7A"/>
                </a:solidFill>
              </a:defRPr>
            </a:pPr>
            <a:r>
              <a:rPr sz="975" b="0">
                <a:solidFill>
                  <a:srgbClr val="5C6B7A"/>
                </a:solidFill>
              </a:rPr>
              <a:t>打印 / 拆件 / 打磨 / 喷涂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3538FA-967B-4A90-B3A7-BC1686D71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48000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C05CBD-90EB-4DDF-95B2-477B2CAB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476500"/>
            <a:ext cx="1695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777579-1447-4C58-AD4E-4806082F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289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BB4B5E-29E0-423B-B5A4-81C442CA7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289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拍摄剪辑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629F9A-BE32-450A-95A8-ECC869582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3528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6B7A"/>
                </a:solidFill>
              </a:defRPr>
            </a:pPr>
            <a:r>
              <a:rPr sz="975" b="0">
                <a:solidFill>
                  <a:srgbClr val="5C6B7A"/>
                </a:solidFill>
              </a:rPr>
              <a:t>录屏 / 拍摄 / VO / 字幕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17650B-E2BC-4276-B5C7-D6F8D04E7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9867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37BC8D-DDF1-4DBC-B752-D36B01AD7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24400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9A3412"/>
                </a:solidFill>
              </a:defRPr>
            </a:pPr>
            <a:r>
              <a:rPr sz="1725" b="1">
                <a:solidFill>
                  <a:srgbClr val="9A3412"/>
                </a:solidFill>
              </a:rPr>
              <a:t>关键影响：一个可用于拍摄的视频模型通常需要3-5天；长打印周期主题需要提前1-2周规划。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43BDB1-7CF2-408A-B3A5-C14DA177A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B7A"/>
                </a:solidFill>
              </a:defRPr>
            </a:pPr>
            <a:r>
              <a:rPr sz="825" b="0">
                <a:solidFill>
                  <a:srgbClr val="5C6B7A"/>
                </a:solidFill>
              </a:rPr>
              <a:t>7-8月内容相关工作情况汇报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8F9436-A5F0-4ECD-8716-25F3C314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B7A"/>
                </a:solidFill>
              </a:defRPr>
            </a:pPr>
            <a:r>
              <a:rPr sz="975" b="0">
                <a:solidFill>
                  <a:srgbClr val="5C6B7A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8497496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423905-DC15-4240-9450-26F44B53C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03 / ISSUES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A6CD44-D78A-4A22-9BB0-E64DF377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当前核心问题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7C1224-46CB-47B3-85AB-C6B1A1A2E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B7A"/>
                </a:solidFill>
              </a:defRPr>
            </a:pPr>
            <a:r>
              <a:rPr sz="1275" b="0">
                <a:solidFill>
                  <a:srgbClr val="5C6B7A"/>
                </a:solidFill>
              </a:rPr>
              <a:t>优先级最高的是人力断点与生产节奏，其次是平台运营基础。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B88301-38E5-4222-B9AE-28146031F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31F4CC-C2C1-4062-A09A-658298A9B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24A212-4D02-4713-B1AC-548134340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</a:defRPr>
            </a:pPr>
            <a:r>
              <a:rPr sz="1425" b="1">
                <a:solidFill>
                  <a:srgbClr val="102033"/>
                </a:solidFill>
              </a:rPr>
              <a:t>人力不足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DC8FF1-B38F-4BA7-B730-5EBC4F08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669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一人多岗覆盖完整链路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ECBB9A-4B40-4C05-B375-C9079C845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669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7A"/>
                </a:solidFill>
              </a:defRPr>
            </a:pPr>
            <a:r>
              <a:rPr sz="1350" b="0">
                <a:solidFill>
                  <a:srgbClr val="5C6B7A"/>
                </a:solidFill>
              </a:rPr>
              <a:t>产能受单点瓶颈影响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AD8E59-CCC6-406B-8B41-523CAAEBC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155B97-C224-440F-A092-E3F520C6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</a:defRPr>
            </a:pPr>
            <a:r>
              <a:rPr sz="1425" b="1">
                <a:solidFill>
                  <a:srgbClr val="102033"/>
                </a:solidFill>
              </a:rPr>
              <a:t>准备周期长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B6A090-809E-4843-889C-3F56013E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765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模型、打印、后处理不可压缩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BC195E-B8CB-4463-9ECB-AC810FC57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765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7A"/>
                </a:solidFill>
              </a:defRPr>
            </a:pPr>
            <a:r>
              <a:rPr sz="1350" b="0">
                <a:solidFill>
                  <a:srgbClr val="5C6B7A"/>
                </a:solidFill>
              </a:rPr>
              <a:t>发布节奏难稳定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3C0012-08E5-4AE0-8AEA-7DB166F20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995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44CCE7-01BB-44B5-922B-764454D4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052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</a:defRPr>
            </a:pPr>
            <a:r>
              <a:rPr sz="1425" b="1">
                <a:solidFill>
                  <a:srgbClr val="102033"/>
                </a:solidFill>
              </a:rPr>
              <a:t>分发未跑通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88F616-F22D-48B3-90DD-A2415F1A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861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账号预热、平台规则仍在验证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C93157-33D9-4170-845D-F91A6C1D8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861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7A"/>
                </a:solidFill>
              </a:defRPr>
            </a:pPr>
            <a:r>
              <a:rPr sz="1350" b="0">
                <a:solidFill>
                  <a:srgbClr val="5C6B7A"/>
                </a:solidFill>
              </a:rPr>
              <a:t>完成内容不等于获得分发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B76084-D940-46DD-9528-AE7CFC9FB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955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8BA7B0-82DD-40CA-97E9-BEFD48B9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148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</a:defRPr>
            </a:pPr>
            <a:r>
              <a:rPr sz="1425" b="1">
                <a:solidFill>
                  <a:srgbClr val="102033"/>
                </a:solidFill>
              </a:rPr>
              <a:t>社区弱承接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36C9F8-5F6F-46E7-B2FC-0838142A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95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Discord低活跃；Reddit风控强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FA4775-B336-4068-87A1-B8B373DD6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7A"/>
                </a:solidFill>
              </a:defRPr>
            </a:pPr>
            <a:r>
              <a:rPr sz="1350" b="0">
                <a:solidFill>
                  <a:srgbClr val="5C6B7A"/>
                </a:solidFill>
              </a:rPr>
              <a:t>口碑与UGC无法沉淀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6A25A7-0849-479C-B02A-CC6E64C4E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08BD24-43D2-4810-B550-0DEC13DFC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244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</a:defRPr>
            </a:pPr>
            <a:r>
              <a:rPr sz="1425" b="1">
                <a:solidFill>
                  <a:srgbClr val="102033"/>
                </a:solidFill>
              </a:rPr>
              <a:t>品牌声量弱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A8101C-DCCC-411E-AD0A-5FAC4355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053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竞品比较中推荐倾向不利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32DD6F-ED26-48DC-872E-8BC4E001A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053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7A"/>
                </a:solidFill>
              </a:defRPr>
            </a:pPr>
            <a:r>
              <a:rPr sz="1350" b="0">
                <a:solidFill>
                  <a:srgbClr val="5C6B7A"/>
                </a:solidFill>
              </a:rPr>
              <a:t>决策阶段信任不足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2A3971-5795-48E4-A572-0EA4AE877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B7A"/>
                </a:solidFill>
              </a:defRPr>
            </a:pPr>
            <a:r>
              <a:rPr sz="825" b="0">
                <a:solidFill>
                  <a:srgbClr val="5C6B7A"/>
                </a:solidFill>
              </a:rPr>
              <a:t>7-8月内容相关工作情况汇报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D6276E-D18E-41FF-9FC7-E9466761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B7A"/>
                </a:solidFill>
              </a:defRPr>
            </a:pPr>
            <a:r>
              <a:rPr sz="975" b="0">
                <a:solidFill>
                  <a:srgbClr val="5C6B7A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971801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0424EC7-DD9E-418B-8CD5-3AACF4892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04 /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F275F9-7733-468C-BE40-C44283507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当前在制项目进度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2DB328-697E-45B9-9A14-3BA49FD7C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B7A"/>
                </a:solidFill>
              </a:defRPr>
            </a:pPr>
            <a:r>
              <a:rPr sz="1275" b="0">
                <a:solidFill>
                  <a:srgbClr val="5C6B7A"/>
                </a:solidFill>
              </a:rPr>
              <a:t>短视频与长教程已有可交付项目，社区和Reddit处于基础建设期。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07CD72-97E2-4FBC-B2D2-A241B4E19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CDEF69-003B-420E-BB15-9EF787975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476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55553E-3BD9-40CD-AB1A-7000EFDB2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66950"/>
            <a:ext cx="81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2A37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CBF794-E3FA-4A99-B9A7-5244D8FAE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14575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2A37F"/>
                </a:solidFill>
              </a:defRPr>
            </a:pPr>
            <a:r>
              <a:rPr sz="900" b="1">
                <a:solidFill>
                  <a:srgbClr val="12A37F"/>
                </a:solidFill>
              </a:rPr>
              <a:t>本周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AFBC44-696D-46A8-B1D0-9AA27EF1E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190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小鸟浮雕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42ED2E-6F18-435F-B8A1-2E8826B4A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4574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B7A"/>
                </a:solidFill>
              </a:defRPr>
            </a:pPr>
            <a:r>
              <a:rPr sz="1050" b="0">
                <a:solidFill>
                  <a:srgbClr val="5C6B7A"/>
                </a:solidFill>
              </a:rPr>
              <a:t>创意短片 + 过程短片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90C958-9F24-4415-AF71-5EEE2400D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476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77E206-EAB9-48E9-ABB3-4D8BD7A3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66950"/>
            <a:ext cx="81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2A37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67BDAF-88B9-4E85-88C3-961E0EC1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14575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2A37F"/>
                </a:solidFill>
              </a:defRPr>
            </a:pPr>
            <a:r>
              <a:rPr sz="900" b="1">
                <a:solidFill>
                  <a:srgbClr val="12A37F"/>
                </a:solidFill>
              </a:rPr>
              <a:t>本周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4FBFD8-7802-40BE-AA87-7C7F96DB7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190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v1.3.0切割教程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4DA9B2-61B4-4CC7-8661-4CB61768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574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B7A"/>
                </a:solidFill>
              </a:defRPr>
            </a:pPr>
            <a:r>
              <a:rPr sz="1050" b="0">
                <a:solidFill>
                  <a:srgbClr val="5C6B7A"/>
                </a:solidFill>
              </a:rPr>
              <a:t>约6分钟，中英双语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65EB95-1ED7-4575-BB59-DE7926616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71800"/>
            <a:ext cx="476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72C48D-EEFD-4EA3-A0A5-B4637743B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62300"/>
            <a:ext cx="81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2C76CB-A56B-4218-A1BE-8EB36700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09925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下周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8D3AA3-1F2D-432F-8FC8-420BABE80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0861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首饰主题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3C425D-C4D1-468B-85BB-E4CFE78E1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3528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B7A"/>
                </a:solidFill>
              </a:defRPr>
            </a:pPr>
            <a:r>
              <a:rPr sz="1050" b="0">
                <a:solidFill>
                  <a:srgbClr val="5C6B7A"/>
                </a:solidFill>
              </a:rPr>
              <a:t>模型打印中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E57358-780D-4DEF-9B39-0DA99B5C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71800"/>
            <a:ext cx="476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11BBA9-DFAD-4860-A7A6-F186C3EC2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62300"/>
            <a:ext cx="81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676E6F-4E08-4884-A1CF-9CE76C250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09925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下周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77E216-7675-43B6-8635-D34B76235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0861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Chimova合作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8C33AC-E457-4797-9B2D-BF67B9D4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3528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B7A"/>
                </a:solidFill>
              </a:defRPr>
            </a:pPr>
            <a:r>
              <a:rPr sz="1050" b="0">
                <a:solidFill>
                  <a:srgbClr val="5C6B7A"/>
                </a:solidFill>
              </a:rPr>
              <a:t>脚本中，准备打印/拍摄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BA803D-A6EC-4CAE-91C0-B24B8F65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67150"/>
            <a:ext cx="476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59066B-410B-4A56-A10D-9BC36D1CC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57650"/>
            <a:ext cx="81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E51B05-7F23-417F-8C15-6C827221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05275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59E0B"/>
                </a:solidFill>
              </a:defRPr>
            </a:pPr>
            <a:r>
              <a:rPr sz="900" b="1">
                <a:solidFill>
                  <a:srgbClr val="F59E0B"/>
                </a:solidFill>
              </a:rPr>
              <a:t>推进中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D21C17-938F-429D-8848-74D879A3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9814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下午茶主题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A9C783-CC57-4EA9-B2DA-92619C5CC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2481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B7A"/>
                </a:solidFill>
              </a:defRPr>
            </a:pPr>
            <a:r>
              <a:rPr sz="1050" b="0">
                <a:solidFill>
                  <a:srgbClr val="5C6B7A"/>
                </a:solidFill>
              </a:rPr>
              <a:t>模型打印中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28EC0C-2302-479A-8AAB-A636BDD62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67150"/>
            <a:ext cx="476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E61068-ECEF-4777-BCE0-FC78330C4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57650"/>
            <a:ext cx="81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A6EE573-5A4E-4A2C-BC6F-56F0ED65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05275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59E0B"/>
                </a:solidFill>
              </a:defRPr>
            </a:pPr>
            <a:r>
              <a:rPr sz="900" b="1">
                <a:solidFill>
                  <a:srgbClr val="F59E0B"/>
                </a:solidFill>
              </a:rPr>
              <a:t>8月底前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94F69F-3551-4894-BC3D-EB2BFF646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9814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Chitu Glyph AI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DD620C5-FA37-41DF-A7E1-C8976F49F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2481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B7A"/>
                </a:solidFill>
              </a:defRPr>
            </a:pPr>
            <a:r>
              <a:rPr sz="1050" b="0">
                <a:solidFill>
                  <a:srgbClr val="5C6B7A"/>
                </a:solidFill>
              </a:rPr>
              <a:t>脚本、模型实验、录制启动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79836F5-CBFE-4835-BE5C-2B80007BA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476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A244CFB-EDA5-42F2-8C07-5219ACC0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53000"/>
            <a:ext cx="81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2A37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5A20BD4-5F93-45C1-AC3E-42A3822B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00625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2A37F"/>
                </a:solidFill>
              </a:defRPr>
            </a:pPr>
            <a:r>
              <a:rPr sz="900" b="1">
                <a:solidFill>
                  <a:srgbClr val="12A37F"/>
                </a:solidFill>
              </a:rPr>
              <a:t>本周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9B35938-A8CA-4FE0-810B-7255AB760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8768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Discord活动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B41ACE2-7F16-482D-BC85-EF5FD38B7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1435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B7A"/>
                </a:solidFill>
              </a:defRPr>
            </a:pPr>
            <a:r>
              <a:rPr sz="1050" b="0">
                <a:solidFill>
                  <a:srgbClr val="5C6B7A"/>
                </a:solidFill>
              </a:rPr>
              <a:t>方案完成，模型获取中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3F77F7D-CA99-430B-B15B-3C429F6D2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62500"/>
            <a:ext cx="476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BB9EEEA-656F-4A71-944B-4DECD95B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53000"/>
            <a:ext cx="81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0A324CD-C937-4985-B278-00D9CFCE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000625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59E0B"/>
                </a:solidFill>
              </a:defRPr>
            </a:pPr>
            <a:r>
              <a:rPr sz="900" b="1">
                <a:solidFill>
                  <a:srgbClr val="F59E0B"/>
                </a:solidFill>
              </a:rPr>
              <a:t>月底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ACB7A3B-FFFF-4F34-B04F-39085FE7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8768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Reddit账号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26DDB82-5934-4FE8-9C98-3EBE57AD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1435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B7A"/>
                </a:solidFill>
              </a:defRPr>
            </a:pPr>
            <a:r>
              <a:rPr sz="1050" b="0">
                <a:solidFill>
                  <a:srgbClr val="5C6B7A"/>
                </a:solidFill>
              </a:rPr>
              <a:t>养号中，目标具备基础可用性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2FF67A1-456E-464D-9B9C-9079CDB16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B7A"/>
                </a:solidFill>
              </a:defRPr>
            </a:pPr>
            <a:r>
              <a:rPr sz="825" b="0">
                <a:solidFill>
                  <a:srgbClr val="5C6B7A"/>
                </a:solidFill>
              </a:rPr>
              <a:t>7-8月内容相关工作情况汇报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470C3A1-5875-4746-A70B-A6E8AF5B9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B7A"/>
                </a:solidFill>
              </a:defRPr>
            </a:pPr>
            <a:r>
              <a:rPr sz="975" b="0">
                <a:solidFill>
                  <a:srgbClr val="5C6B7A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1572592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F263F6-0460-4674-97C4-D580BE6FD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05 /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9B0F53-C249-420B-8C3B-257F4215A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解决方案：先补断点，再做闭环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38E2C7-E4B9-4B97-BF85-854232300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B7A"/>
                </a:solidFill>
              </a:defRPr>
            </a:pPr>
            <a:r>
              <a:rPr sz="1275" b="0">
                <a:solidFill>
                  <a:srgbClr val="5C6B7A"/>
                </a:solidFill>
              </a:rPr>
              <a:t>把链路拆开并行，让同一主题在不同平台复用。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8C143E-15AF-4DE8-BF2A-DB5C71DDB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8F272D-4E99-4DE7-98E7-D1BA1733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9800"/>
            <a:ext cx="304800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865CDD-8A79-45D7-967B-4AAA8E60C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574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</a:defRPr>
            </a:pPr>
            <a:r>
              <a:rPr sz="1950" b="1">
                <a:solidFill>
                  <a:srgbClr val="2563EB"/>
                </a:solidFill>
              </a:rPr>
              <a:t>资源补齐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418795-D734-4DA0-9030-B800FA5D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33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09A2C4-76CB-4BDA-8771-2C6E2511A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48000"/>
            <a:ext cx="2247900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</a:defRPr>
            </a:pPr>
            <a:r>
              <a:rPr sz="1200" b="0">
                <a:solidFill>
                  <a:srgbClr val="102033"/>
                </a:solidFill>
              </a:rPr>
              <a:t>3D打印工程师承接模型/打印/后处理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C733B5-FEE6-44C8-A67E-5057690D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29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1995A6-804E-466D-91CA-9A6E095C8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43300"/>
            <a:ext cx="2247900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</a:defRPr>
            </a:pPr>
            <a:r>
              <a:rPr sz="1200" b="0">
                <a:solidFill>
                  <a:srgbClr val="102033"/>
                </a:solidFill>
              </a:rPr>
              <a:t>海外短视频编导承接脚本/分镜/剪辑节奏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FFE5DF-816D-4AA9-ADCA-2DE965600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24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2D2565-760F-4C28-A5B5-8FB8F32E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38600"/>
            <a:ext cx="2247900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</a:defRPr>
            </a:pPr>
            <a:r>
              <a:rPr sz="1200" b="0">
                <a:solidFill>
                  <a:srgbClr val="102033"/>
                </a:solidFill>
              </a:rPr>
              <a:t>减少内容团队在工程环节等待与返工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9D62CF-797E-4FBF-8684-5028A2C7C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09800"/>
            <a:ext cx="304800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BE30D2-8DD9-4B26-98A1-82CB12F5F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4574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A37F"/>
                </a:solidFill>
              </a:defRPr>
            </a:pPr>
            <a:r>
              <a:rPr sz="1950" b="1">
                <a:solidFill>
                  <a:srgbClr val="12A37F"/>
                </a:solidFill>
              </a:rPr>
              <a:t>流程并行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7490D0-7388-4EB9-97EB-7185EBFE2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33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DB6EDE-9173-4A0B-B688-BE9414F2A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048000"/>
            <a:ext cx="2247900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</a:defRPr>
            </a:pPr>
            <a:r>
              <a:rPr sz="1200" b="0">
                <a:solidFill>
                  <a:srgbClr val="102033"/>
                </a:solidFill>
              </a:rPr>
              <a:t>打印周期提前判断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E4D488-B2D0-4305-846B-631CDEAC0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29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D6FDF3-FA63-4CF1-9A50-CFF56856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543300"/>
            <a:ext cx="2247900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</a:defRPr>
            </a:pPr>
            <a:r>
              <a:rPr sz="1200" b="0">
                <a:solidFill>
                  <a:srgbClr val="102033"/>
                </a:solidFill>
              </a:rPr>
              <a:t>打印期间完成脚本、封面、标题、字幕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EDEF63-9FDF-4477-9AF6-8378EB396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24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43FEAB-5888-4EBA-8181-4B2E81DB5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038600"/>
            <a:ext cx="2247900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</a:defRPr>
            </a:pPr>
            <a:r>
              <a:rPr sz="1200" b="0">
                <a:solidFill>
                  <a:srgbClr val="102033"/>
                </a:solidFill>
              </a:rPr>
              <a:t>长周期主题提前1-2周排期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D91925-3E59-45AA-A424-EAAAF6AA4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09800"/>
            <a:ext cx="304800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E5CC80-39EB-4125-9F75-C5DE71AC2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574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A6D6"/>
                </a:solidFill>
              </a:defRPr>
            </a:pPr>
            <a:r>
              <a:rPr sz="1950" b="1">
                <a:solidFill>
                  <a:srgbClr val="00A6D6"/>
                </a:solidFill>
              </a:rPr>
              <a:t>内容复用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1B3994-DB6F-4D91-B7CC-146B1419C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33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754DD1-7EF4-4D86-97E2-56208D12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48000"/>
            <a:ext cx="2247900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</a:defRPr>
            </a:pPr>
            <a:r>
              <a:rPr sz="1200" b="0">
                <a:solidFill>
                  <a:srgbClr val="102033"/>
                </a:solidFill>
              </a:rPr>
              <a:t>长教程拆短视频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2A5DE2-B0BB-4443-A6D4-743B75E2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29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367261-C3A6-4825-81D6-FBB82CD3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543300"/>
            <a:ext cx="2247900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</a:defRPr>
            </a:pPr>
            <a:r>
              <a:rPr sz="1200" b="0">
                <a:solidFill>
                  <a:srgbClr val="102033"/>
                </a:solidFill>
              </a:rPr>
              <a:t>短视频反哺Reddit讨论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B34498-456A-4CF6-8C82-7954D7EC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124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096D6C-1241-4807-BEED-249139FA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038600"/>
            <a:ext cx="2247900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</a:defRPr>
            </a:pPr>
            <a:r>
              <a:rPr sz="1200" b="0">
                <a:solidFill>
                  <a:srgbClr val="102033"/>
                </a:solidFill>
              </a:rPr>
              <a:t>Discord活动沉淀问题与UGC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5FBEF3-3834-4302-AE75-4E4382139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B7A"/>
                </a:solidFill>
              </a:defRPr>
            </a:pPr>
            <a:r>
              <a:rPr sz="825" b="0">
                <a:solidFill>
                  <a:srgbClr val="5C6B7A"/>
                </a:solidFill>
              </a:rPr>
              <a:t>7-8月内容相关工作情况汇报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3B9879-A16E-4A6B-83B4-C7787167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B7A"/>
                </a:solidFill>
              </a:defRPr>
            </a:pPr>
            <a:r>
              <a:rPr sz="975" b="0">
                <a:solidFill>
                  <a:srgbClr val="5C6B7A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075589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69B42A-97AC-440C-AA37-B1435D5A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06 /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A695F0-349F-40AD-873A-269A6F8E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8月下半月建议节奏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E20C87-6B98-4480-AEEA-CD62E2288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B7A"/>
                </a:solidFill>
              </a:defRPr>
            </a:pPr>
            <a:r>
              <a:rPr sz="1275" b="0">
                <a:solidFill>
                  <a:srgbClr val="5C6B7A"/>
                </a:solidFill>
              </a:rPr>
              <a:t>先完成可交付项目，再验证最小发布-复盘闭环。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CD2142-A75E-498B-A8E2-96D5585C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9CDDD3-2B9A-4BEF-83CB-FC4C881A8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8375"/>
            <a:ext cx="1428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E9E2D7-9A25-4016-B876-4F37A73FB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2887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第3周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7E06BE-5E96-402F-8852-282F83F8D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333625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</a:defRPr>
            </a:pPr>
            <a:r>
              <a:rPr sz="1425" b="1">
                <a:solidFill>
                  <a:srgbClr val="102033"/>
                </a:solidFill>
              </a:rPr>
              <a:t>小鸟浮雕短片、v1.3.0切割教程、Discord模型落地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789F3D-C93F-44C8-B1D5-A9E767847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52675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B7A"/>
                </a:solidFill>
              </a:defRPr>
            </a:pPr>
            <a:r>
              <a:rPr sz="1275" b="0">
                <a:solidFill>
                  <a:srgbClr val="5C6B7A"/>
                </a:solidFill>
              </a:rPr>
              <a:t>2条短视频素材包；1条中英双语教程；活动素材确认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10AF7A-F0DD-4759-9B56-F7B079F03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28975"/>
            <a:ext cx="1428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A98DBD-AF76-4E9F-89A1-EC8CD9C1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1947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第4周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CE9535-EA51-4578-BC4D-170B57691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24225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</a:defRPr>
            </a:pPr>
            <a:r>
              <a:rPr sz="1425" b="1">
                <a:solidFill>
                  <a:srgbClr val="102033"/>
                </a:solidFill>
              </a:rPr>
              <a:t>首饰/Chimova/下午茶拍摄剪辑；Reddit低风险互动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404B2C-35B3-486D-A42E-98ADC1DA8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43275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B7A"/>
                </a:solidFill>
              </a:defRPr>
            </a:pPr>
            <a:r>
              <a:rPr sz="1275" b="0">
                <a:solidFill>
                  <a:srgbClr val="5C6B7A"/>
                </a:solidFill>
              </a:rPr>
              <a:t>2-3条短视频候选；Reddit内容池；Discord活动上线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A50E1F-97DF-4196-9C6D-2B59F3004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9575"/>
            <a:ext cx="1428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597C3F-A93E-4C3D-9495-13EC17652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1007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月底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10D039-C38C-4736-90AB-3065A777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314825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</a:defRPr>
            </a:pPr>
            <a:r>
              <a:rPr sz="1425" b="1">
                <a:solidFill>
                  <a:srgbClr val="102033"/>
                </a:solidFill>
              </a:rPr>
              <a:t>Chitu Glyph AI脚本与模型实验；9月选题池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618D96-FFDF-439B-BE55-BE3DB8D3E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33875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B7A"/>
                </a:solidFill>
              </a:defRPr>
            </a:pPr>
            <a:r>
              <a:rPr sz="1275" b="0">
                <a:solidFill>
                  <a:srgbClr val="5C6B7A"/>
                </a:solidFill>
              </a:rPr>
              <a:t>1份脚本；1组实验素材；9月内容日历初稿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C9D10C-2C56-460C-8845-F5381707E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B7A"/>
                </a:solidFill>
              </a:defRPr>
            </a:pPr>
            <a:r>
              <a:rPr sz="825" b="0">
                <a:solidFill>
                  <a:srgbClr val="5C6B7A"/>
                </a:solidFill>
              </a:rPr>
              <a:t>7-8月内容相关工作情况汇报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B26D01-9717-477A-BEFF-AE293BA9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B7A"/>
                </a:solidFill>
              </a:defRPr>
            </a:pPr>
            <a:r>
              <a:rPr sz="975" b="0">
                <a:solidFill>
                  <a:srgbClr val="5C6B7A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8377081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265093-96BA-433E-BDA0-12C7FF10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07 / ASK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93B6BD-EA47-4798-B66A-2A6AD41DB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需要管理支持的事项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F36CC3-0594-40FB-9D0D-307E82F30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B7A"/>
                </a:solidFill>
              </a:defRPr>
            </a:pPr>
            <a:r>
              <a:rPr sz="1275" b="0">
                <a:solidFill>
                  <a:srgbClr val="5C6B7A"/>
                </a:solidFill>
              </a:rPr>
              <a:t>资源明确之后，内容产能和社区运营才能进入可预期节奏。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8346D2-C9BC-4F77-99EE-7661C3F8F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62D3F1-EE43-4EFA-AF7B-234EDB67E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3086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AF714B-CFFA-4A8C-8CA0-0AEDFA088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95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招聘优先级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0C19E7-F4A6-4B0B-B1EA-73FFBF98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B7A"/>
                </a:solidFill>
              </a:defRPr>
            </a:pPr>
            <a:r>
              <a:rPr sz="1125" b="0">
                <a:solidFill>
                  <a:srgbClr val="5C6B7A"/>
                </a:solidFill>
              </a:rPr>
              <a:t>确认3D打印工程师与海外短视频编导岗位边界和到岗预期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DE7074-D565-475F-B6FA-879A0A516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05050"/>
            <a:ext cx="3086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C29AAB-9042-4FC2-9926-E8AB13C60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95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A37F"/>
                </a:solidFill>
              </a:defRPr>
            </a:pPr>
            <a:r>
              <a:rPr sz="1650" b="1">
                <a:solidFill>
                  <a:srgbClr val="12A37F"/>
                </a:solidFill>
              </a:rPr>
              <a:t>设备排期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458572-237E-49D1-94EA-F16E2DCB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575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B7A"/>
                </a:solidFill>
              </a:defRPr>
            </a:pPr>
            <a:r>
              <a:rPr sz="1125" b="0">
                <a:solidFill>
                  <a:srgbClr val="5C6B7A"/>
                </a:solidFill>
              </a:rPr>
              <a:t>为内容项目预留打印机、耗材与后处理资源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E25737-FA77-43E4-918F-9B7274D12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05050"/>
            <a:ext cx="3086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C7EF35-0337-46E0-9988-75A82275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95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A6D6"/>
                </a:solidFill>
              </a:defRPr>
            </a:pPr>
            <a:r>
              <a:rPr sz="1650" b="1">
                <a:solidFill>
                  <a:srgbClr val="00A6D6"/>
                </a:solidFill>
              </a:rPr>
              <a:t>账号权限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684AD7-1B2D-4C36-8416-639F748D2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575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B7A"/>
                </a:solidFill>
              </a:defRPr>
            </a:pPr>
            <a:r>
              <a:rPr sz="1125" b="0">
                <a:solidFill>
                  <a:srgbClr val="5C6B7A"/>
                </a:solidFill>
              </a:rPr>
              <a:t>确认多平台账号权限、发布权限与审核流程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6F3D96-2412-464B-94AB-36EE80722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038600"/>
            <a:ext cx="3086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B8710C-6320-420D-A6FA-C47046E25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2291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9E0B"/>
                </a:solidFill>
              </a:defRPr>
            </a:pPr>
            <a:r>
              <a:rPr sz="1650" b="1">
                <a:solidFill>
                  <a:srgbClr val="F59E0B"/>
                </a:solidFill>
              </a:rPr>
              <a:t>共创资源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DC5029-E8F2-4AAE-B47C-DB5F34633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5910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B7A"/>
                </a:solidFill>
              </a:defRPr>
            </a:pPr>
            <a:r>
              <a:rPr sz="1125" b="0">
                <a:solidFill>
                  <a:srgbClr val="5C6B7A"/>
                </a:solidFill>
              </a:rPr>
              <a:t>建立品牌、创作者、模型作者合作机制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4DDD39-E689-4351-8BC3-301BDE8BD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38600"/>
            <a:ext cx="3086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930888-B758-4AB1-A9C4-FE1EEA1BE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291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45858"/>
                </a:solidFill>
              </a:defRPr>
            </a:pPr>
            <a:r>
              <a:rPr sz="1650" b="1">
                <a:solidFill>
                  <a:srgbClr val="E45858"/>
                </a:solidFill>
              </a:rPr>
              <a:t>周复盘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5E81D6-C574-4ACE-8193-5228489FF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910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B7A"/>
                </a:solidFill>
              </a:defRPr>
            </a:pPr>
            <a:r>
              <a:rPr sz="1125" b="0">
                <a:solidFill>
                  <a:srgbClr val="5C6B7A"/>
                </a:solidFill>
              </a:rPr>
              <a:t>固定30分钟复盘：产出、表现、反馈、调整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99E938-B5D8-4100-9C75-136BF56F5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B7A"/>
                </a:solidFill>
              </a:defRPr>
            </a:pPr>
            <a:r>
              <a:rPr sz="825" b="0">
                <a:solidFill>
                  <a:srgbClr val="5C6B7A"/>
                </a:solidFill>
              </a:rPr>
              <a:t>7-8月内容相关工作情况汇报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917FB3-C918-4F25-B3CC-6F19F9A8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B7A"/>
                </a:solidFill>
              </a:defRPr>
            </a:pPr>
            <a:r>
              <a:rPr sz="975" b="0">
                <a:solidFill>
                  <a:srgbClr val="5C6B7A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876814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2026-08-12T05:52:42.8260000Z</dcterms:created>
  <dcterms:modified xsi:type="dcterms:W3CDTF">2026-08-12T05:52:42.8260000Z</dcterms:modified>
</coreProperties>
</file>